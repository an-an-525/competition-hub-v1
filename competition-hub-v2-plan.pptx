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6858000" y="-457200"/>
            <a:ext cx="3657600" cy="3657600"/>
          </a:xfrm>
          <a:prstGeom prst="rect">
            <a:avLst/>
          </a:prstGeom>
          <a:solidFill>
            <a:srgbClr val="1E3F6E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7772400" y="2286000"/>
            <a:ext cx="2743200" cy="2743200"/>
          </a:xfrm>
          <a:prstGeom prst="rect">
            <a:avLst/>
          </a:prstGeom>
          <a:solidFill>
            <a:srgbClr val="1E3F6E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371600"/>
            <a:ext cx="54864" cy="2286000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竞赛助手 2.0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从零重建计划书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2743200" cy="27432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  |  v2.0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12192000" cy="73152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Hub Rebuild Plan</a:t>
            </a:r>
            <a:endParaRPr lang="en-US" sz="11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280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280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353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核心价值与功能模块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80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80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069080" y="1353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用户角色与路径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角色分析与使用流程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80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353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分层架构设计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423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2423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2496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技术栈与选型理由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2423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2423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069080" y="2496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ER关系与核心表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423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423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58000" y="2496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四大模块功能树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566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3566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280160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安全设计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安全措施与权限控制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37560" y="3566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337560" y="3566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/>
        </p:spPr>
      </p:sp>
      <p:sp>
        <p:nvSpPr>
          <p:cNvPr id="46" name="Text 44"/>
          <p:cNvSpPr/>
          <p:nvPr/>
        </p:nvSpPr>
        <p:spPr>
          <a:xfrm>
            <a:off x="352044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069080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开发计划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204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阶段时间线与里程碑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3566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3566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858000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性能目标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30936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性能指标与缓存策略</a:t>
            </a:r>
            <a:endParaRPr lang="en-US" sz="900" dirty="0"/>
          </a:p>
        </p:txBody>
      </p:sp>
      <p:sp>
        <p:nvSpPr>
          <p:cNvPr id="5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&amp; MODULES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竞赛助手 2.0 致力于为高校竞赛生态提供一站式数字化解决方案，覆盖竞赛全生命周期管理。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1965960" cy="64008"/>
          </a:xfrm>
          <a:prstGeom prst="roundRect">
            <a:avLst>
              <a:gd name="adj" fmla="val 142857"/>
            </a:avLst>
          </a:prstGeom>
          <a:solidFill>
            <a:srgbClr val="1A365D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1920240"/>
            <a:ext cx="594360" cy="5943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竞赛信息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06324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竞赛发布与展示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38328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83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分类标签筛选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70332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03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搜索与推荐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02336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233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竞赛日历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16916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06040" y="1691640"/>
            <a:ext cx="1965960" cy="64008"/>
          </a:xfrm>
          <a:prstGeom prst="roundRect">
            <a:avLst>
              <a:gd name="adj" fmla="val 142857"/>
            </a:avLst>
          </a:prstGeom>
          <a:solidFill>
            <a:srgbClr val="2B6CB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1920240"/>
            <a:ext cx="594360" cy="5943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97480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报名管理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0" y="306324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30632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在线报名流程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338328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3383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队伍组建管理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0" y="370332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3703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材料提交审核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0" y="402336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0" y="40233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状态跟踪通知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6916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691640"/>
            <a:ext cx="1965960" cy="64008"/>
          </a:xfrm>
          <a:prstGeom prst="roundRect">
            <a:avLst>
              <a:gd name="adj" fmla="val 142857"/>
            </a:avLst>
          </a:prstGeom>
          <a:solidFill>
            <a:srgbClr val="38B2AC"/>
          </a:solidFill>
          <a:ln/>
        </p:spPr>
      </p:sp>
      <p:sp>
        <p:nvSpPr>
          <p:cNvPr id="38" name="Shape 36"/>
          <p:cNvSpPr/>
          <p:nvPr/>
        </p:nvSpPr>
        <p:spPr>
          <a:xfrm>
            <a:off x="5440680" y="1920240"/>
            <a:ext cx="594360" cy="59436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46320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92040" y="306324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0632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智能问答咨询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38328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3383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竞赛匹配推荐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370332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703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文档智能分析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92040" y="402336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40233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学习资源推荐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03720" y="16916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03720" y="1691640"/>
            <a:ext cx="1965960" cy="64008"/>
          </a:xfrm>
          <a:prstGeom prst="roundRect">
            <a:avLst>
              <a:gd name="adj" fmla="val 142857"/>
            </a:avLst>
          </a:prstGeom>
          <a:solidFill>
            <a:srgbClr val="ECC94B"/>
          </a:solidFill>
          <a:ln/>
        </p:spPr>
      </p:sp>
      <p:sp>
        <p:nvSpPr>
          <p:cNvPr id="51" name="Shape 49"/>
          <p:cNvSpPr/>
          <p:nvPr/>
        </p:nvSpPr>
        <p:spPr>
          <a:xfrm>
            <a:off x="7589520" y="1920240"/>
            <a:ext cx="594360" cy="59436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52" name="Text 50"/>
          <p:cNvSpPr/>
          <p:nvPr/>
        </p:nvSpPr>
        <p:spPr>
          <a:xfrm>
            <a:off x="758952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995160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管理后台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040880" y="306324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55" name="Text 53"/>
          <p:cNvSpPr/>
          <p:nvPr/>
        </p:nvSpPr>
        <p:spPr>
          <a:xfrm>
            <a:off x="7132320" y="30632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数据统计看板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40880" y="338328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57" name="Text 55"/>
          <p:cNvSpPr/>
          <p:nvPr/>
        </p:nvSpPr>
        <p:spPr>
          <a:xfrm>
            <a:off x="7132320" y="3383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用户权限管理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040880" y="370332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0" y="3703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系统配置中心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40880" y="402336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BF8FF"/>
          </a:solidFill>
          <a:ln/>
        </p:spPr>
      </p:sp>
      <p:sp>
        <p:nvSpPr>
          <p:cNvPr id="61" name="Text 59"/>
          <p:cNvSpPr/>
          <p:nvPr/>
        </p:nvSpPr>
        <p:spPr>
          <a:xfrm>
            <a:off x="7132320" y="40233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日志审计追踪</a:t>
            </a:r>
            <a:endParaRPr lang="en-US" sz="900" dirty="0"/>
          </a:p>
        </p:txBody>
      </p:sp>
      <p:sp>
        <p:nvSpPr>
          <p:cNvPr id="6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用户角色与路径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JOURNEY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54864" cy="1097280"/>
          </a:xfrm>
          <a:prstGeom prst="roundRect">
            <a:avLst>
              <a:gd name="adj" fmla="val 50000"/>
            </a:avLst>
          </a:prstGeom>
          <a:solidFill>
            <a:srgbClr val="1A365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参赛学生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1691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浏览竞赛、组建队伍、提交报名、查看成绩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2344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234440"/>
            <a:ext cx="54864" cy="109728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14173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指导教师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1691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审核报名、指导团队、评审作品、数据查看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23444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234440"/>
            <a:ext cx="54864" cy="109728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系统管理员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1691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发布竞赛、管理用户、系统配置、数据分析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核心使用路径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2004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200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浏览竞赛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2926080"/>
            <a:ext cx="320040" cy="32004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25880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C94B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581912" y="32004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1581912" y="3200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了解详情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20240" y="2926080"/>
            <a:ext cx="320040" cy="32004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36" name="Text 34"/>
          <p:cNvSpPr/>
          <p:nvPr/>
        </p:nvSpPr>
        <p:spPr>
          <a:xfrm>
            <a:off x="192024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87752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C94B"/>
                </a:solidFill>
              </a:rPr>
              <a:t>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843784" y="32004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/>
        </p:spPr>
      </p:sp>
      <p:sp>
        <p:nvSpPr>
          <p:cNvPr id="39" name="Text 37"/>
          <p:cNvSpPr/>
          <p:nvPr/>
        </p:nvSpPr>
        <p:spPr>
          <a:xfrm>
            <a:off x="2843784" y="3200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组建队伍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82112" y="2926080"/>
            <a:ext cx="320040" cy="32004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41" name="Text 39"/>
          <p:cNvSpPr/>
          <p:nvPr/>
        </p:nvSpPr>
        <p:spPr>
          <a:xfrm>
            <a:off x="3182112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9624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C94B"/>
                </a:solidFill>
              </a:rPr>
              <a:t>▶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105656" y="32004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/>
        </p:spPr>
      </p:sp>
      <p:sp>
        <p:nvSpPr>
          <p:cNvPr id="44" name="Text 42"/>
          <p:cNvSpPr/>
          <p:nvPr/>
        </p:nvSpPr>
        <p:spPr>
          <a:xfrm>
            <a:off x="4105656" y="3200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提交报名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3984" y="2926080"/>
            <a:ext cx="320040" cy="32004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46" name="Text 44"/>
          <p:cNvSpPr/>
          <p:nvPr/>
        </p:nvSpPr>
        <p:spPr>
          <a:xfrm>
            <a:off x="4443984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11496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C94B"/>
                </a:solidFill>
              </a:rPr>
              <a:t>▶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367528" y="32004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/>
        </p:spPr>
      </p:sp>
      <p:sp>
        <p:nvSpPr>
          <p:cNvPr id="49" name="Text 47"/>
          <p:cNvSpPr/>
          <p:nvPr/>
        </p:nvSpPr>
        <p:spPr>
          <a:xfrm>
            <a:off x="5367528" y="3200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材料审核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05856" y="2926080"/>
            <a:ext cx="320040" cy="32004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51" name="Text 49"/>
          <p:cNvSpPr/>
          <p:nvPr/>
        </p:nvSpPr>
        <p:spPr>
          <a:xfrm>
            <a:off x="5705856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73368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C94B"/>
                </a:solidFill>
              </a:rPr>
              <a:t>▶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629400" y="32004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/>
        </p:spPr>
      </p:sp>
      <p:sp>
        <p:nvSpPr>
          <p:cNvPr id="54" name="Text 52"/>
          <p:cNvSpPr/>
          <p:nvPr/>
        </p:nvSpPr>
        <p:spPr>
          <a:xfrm>
            <a:off x="6629400" y="3200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参赛准备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67728" y="2926080"/>
            <a:ext cx="320040" cy="32004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56" name="Text 54"/>
          <p:cNvSpPr/>
          <p:nvPr/>
        </p:nvSpPr>
        <p:spPr>
          <a:xfrm>
            <a:off x="6967728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635240" y="3246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C94B"/>
                </a:solidFill>
              </a:rPr>
              <a:t>▶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891272" y="32004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48BB78"/>
          </a:solidFill>
          <a:ln/>
        </p:spPr>
      </p:sp>
      <p:sp>
        <p:nvSpPr>
          <p:cNvPr id="59" name="Text 57"/>
          <p:cNvSpPr/>
          <p:nvPr/>
        </p:nvSpPr>
        <p:spPr>
          <a:xfrm>
            <a:off x="7891272" y="32004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成绩公布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29600" y="2926080"/>
            <a:ext cx="320040" cy="320040"/>
          </a:xfrm>
          <a:prstGeom prst="ellipse">
            <a:avLst/>
          </a:prstGeom>
          <a:solidFill>
            <a:srgbClr val="ECC94B"/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801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A365D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280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前端 (React)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417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417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管理后台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20299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1945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194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11680" y="23317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331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反向代理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23317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331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23317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331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负载均衡 / SSL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0" y="29443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8B2AC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1089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011680" y="32461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38B2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竞赛服务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49040" y="32461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38B2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32461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38B2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服务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32461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38B2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通知服务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0" y="38587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0233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CC94B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0233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CC94B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023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011680" y="41605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ECC9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4160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49040" y="41605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ECC9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4160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缓存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41605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ECC9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4160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对象存储 (OSS)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23760" y="41605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6350">
            <a:solidFill>
              <a:srgbClr val="ECC9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4160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900" dirty="0"/>
          </a:p>
        </p:txBody>
      </p:sp>
      <p:sp>
        <p:nvSpPr>
          <p:cNvPr id="5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91440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选型理由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生态成熟、组件丰富、类型安全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组件库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企业级组件、设计规范统一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模块化架构、依赖注入、TypeScript 原生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关系型数据、JSON支持、性能优异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缓存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高性能KV存储、会话管理、消息队列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服务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+ 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LLM编排、RAG检索增强生成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K8s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容器化部署、弹性伸缩、CI/CD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核心实体关系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8288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CC94B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1901952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BF8FF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901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80560" y="1901952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BF8FF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901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75120" y="1901952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BF8FF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901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2057400"/>
            <a:ext cx="548640" cy="13716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2057400"/>
            <a:ext cx="548640" cy="13716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0" y="2057400"/>
            <a:ext cx="548640" cy="13716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核心数据表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表名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核心字段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用户信息表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email, role, avatar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竞赛信息表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title, category, status, deadline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队伍信息表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leader_id, competition_id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报名记录表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team_id, status, materials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通知消息表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user_id, type, content, 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竞赛信息模块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38528"/>
            <a:ext cx="182880" cy="182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874520"/>
            <a:ext cx="146304" cy="146304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18288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竞赛列表 / 详情展示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441448"/>
            <a:ext cx="182880" cy="182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377440"/>
            <a:ext cx="146304" cy="146304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23317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多维度分类筛选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182880" cy="182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2880360"/>
            <a:ext cx="146304" cy="146304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28346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全文搜索 / 高级搜索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3447288"/>
            <a:ext cx="182880" cy="182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383280"/>
            <a:ext cx="146304" cy="146304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竞赛日历视图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950208"/>
            <a:ext cx="182880" cy="182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886200"/>
            <a:ext cx="146304" cy="146304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120" y="3840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收藏 / 关注功能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0" y="12344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报名管理模块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0" y="1938528"/>
            <a:ext cx="18288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0" y="1874520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7" name="Shape 35"/>
          <p:cNvSpPr/>
          <p:nvPr/>
        </p:nvSpPr>
        <p:spPr>
          <a:xfrm>
            <a:off x="3154680" y="18288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在线报名表单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0" y="2441448"/>
            <a:ext cx="18288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Shape 38"/>
          <p:cNvSpPr/>
          <p:nvPr/>
        </p:nvSpPr>
        <p:spPr>
          <a:xfrm>
            <a:off x="2926080" y="2377440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54680" y="23317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队伍创建 / 邀请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0" y="2944368"/>
            <a:ext cx="18288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4" name="Shape 42"/>
          <p:cNvSpPr/>
          <p:nvPr/>
        </p:nvSpPr>
        <p:spPr>
          <a:xfrm>
            <a:off x="2926080" y="2880360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5" name="Shape 43"/>
          <p:cNvSpPr/>
          <p:nvPr/>
        </p:nvSpPr>
        <p:spPr>
          <a:xfrm>
            <a:off x="3154680" y="28346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文件材料上传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0" y="3447288"/>
            <a:ext cx="18288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8" name="Shape 46"/>
          <p:cNvSpPr/>
          <p:nvPr/>
        </p:nvSpPr>
        <p:spPr>
          <a:xfrm>
            <a:off x="2926080" y="3383280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9" name="Shape 47"/>
          <p:cNvSpPr/>
          <p:nvPr/>
        </p:nvSpPr>
        <p:spPr>
          <a:xfrm>
            <a:off x="315468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报名状态跟踪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0" y="3950208"/>
            <a:ext cx="18288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2" name="Shape 50"/>
          <p:cNvSpPr/>
          <p:nvPr/>
        </p:nvSpPr>
        <p:spPr>
          <a:xfrm>
            <a:off x="2926080" y="3886200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53" name="Shape 51"/>
          <p:cNvSpPr/>
          <p:nvPr/>
        </p:nvSpPr>
        <p:spPr>
          <a:xfrm>
            <a:off x="3154680" y="3840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审核通知推送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5488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12344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38B2AC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助手模块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37760" y="1938528"/>
            <a:ext cx="182880" cy="182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9" name="Shape 57"/>
          <p:cNvSpPr/>
          <p:nvPr/>
        </p:nvSpPr>
        <p:spPr>
          <a:xfrm>
            <a:off x="5120640" y="1874520"/>
            <a:ext cx="146304" cy="146304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60" name="Shape 58"/>
          <p:cNvSpPr/>
          <p:nvPr/>
        </p:nvSpPr>
        <p:spPr>
          <a:xfrm>
            <a:off x="5349240" y="18288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61" name="Text 59"/>
          <p:cNvSpPr/>
          <p:nvPr/>
        </p:nvSpPr>
        <p:spPr>
          <a:xfrm>
            <a:off x="539496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智能对话问答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37760" y="2441448"/>
            <a:ext cx="182880" cy="182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63" name="Shape 61"/>
          <p:cNvSpPr/>
          <p:nvPr/>
        </p:nvSpPr>
        <p:spPr>
          <a:xfrm>
            <a:off x="5120640" y="2377440"/>
            <a:ext cx="146304" cy="146304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64" name="Shape 62"/>
          <p:cNvSpPr/>
          <p:nvPr/>
        </p:nvSpPr>
        <p:spPr>
          <a:xfrm>
            <a:off x="5349240" y="23317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65" name="Text 63"/>
          <p:cNvSpPr/>
          <p:nvPr/>
        </p:nvSpPr>
        <p:spPr>
          <a:xfrm>
            <a:off x="539496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竞赛匹配推荐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937760" y="2944368"/>
            <a:ext cx="182880" cy="182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67" name="Shape 65"/>
          <p:cNvSpPr/>
          <p:nvPr/>
        </p:nvSpPr>
        <p:spPr>
          <a:xfrm>
            <a:off x="5120640" y="2880360"/>
            <a:ext cx="146304" cy="146304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68" name="Shape 66"/>
          <p:cNvSpPr/>
          <p:nvPr/>
        </p:nvSpPr>
        <p:spPr>
          <a:xfrm>
            <a:off x="5349240" y="28346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69" name="Text 67"/>
          <p:cNvSpPr/>
          <p:nvPr/>
        </p:nvSpPr>
        <p:spPr>
          <a:xfrm>
            <a:off x="539496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文档解析分析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937760" y="3447288"/>
            <a:ext cx="182880" cy="182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1" name="Shape 69"/>
          <p:cNvSpPr/>
          <p:nvPr/>
        </p:nvSpPr>
        <p:spPr>
          <a:xfrm>
            <a:off x="5120640" y="3383280"/>
            <a:ext cx="146304" cy="146304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72" name="Shape 70"/>
          <p:cNvSpPr/>
          <p:nvPr/>
        </p:nvSpPr>
        <p:spPr>
          <a:xfrm>
            <a:off x="534924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73" name="Text 71"/>
          <p:cNvSpPr/>
          <p:nvPr/>
        </p:nvSpPr>
        <p:spPr>
          <a:xfrm>
            <a:off x="53949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学习路径规划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937760" y="3950208"/>
            <a:ext cx="182880" cy="182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5" name="Shape 73"/>
          <p:cNvSpPr/>
          <p:nvPr/>
        </p:nvSpPr>
        <p:spPr>
          <a:xfrm>
            <a:off x="5120640" y="3886200"/>
            <a:ext cx="146304" cy="146304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76" name="Shape 74"/>
          <p:cNvSpPr/>
          <p:nvPr/>
        </p:nvSpPr>
        <p:spPr>
          <a:xfrm>
            <a:off x="5349240" y="3840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77" name="Text 75"/>
          <p:cNvSpPr/>
          <p:nvPr/>
        </p:nvSpPr>
        <p:spPr>
          <a:xfrm>
            <a:off x="539496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常见问题 FAQ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94944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949440" y="12344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B7791F"/>
          </a:solidFill>
          <a:ln/>
        </p:spPr>
      </p:sp>
      <p:sp>
        <p:nvSpPr>
          <p:cNvPr id="80" name="Text 78"/>
          <p:cNvSpPr/>
          <p:nvPr/>
        </p:nvSpPr>
        <p:spPr>
          <a:xfrm>
            <a:off x="694944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管理后台模块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132320" y="1938528"/>
            <a:ext cx="182880" cy="1828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2" name="Shape 80"/>
          <p:cNvSpPr/>
          <p:nvPr/>
        </p:nvSpPr>
        <p:spPr>
          <a:xfrm>
            <a:off x="7315200" y="187452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83" name="Shape 81"/>
          <p:cNvSpPr/>
          <p:nvPr/>
        </p:nvSpPr>
        <p:spPr>
          <a:xfrm>
            <a:off x="7543800" y="18288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84" name="Text 82"/>
          <p:cNvSpPr/>
          <p:nvPr/>
        </p:nvSpPr>
        <p:spPr>
          <a:xfrm>
            <a:off x="758952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数据统计仪表盘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132320" y="2441448"/>
            <a:ext cx="182880" cy="1828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6" name="Shape 84"/>
          <p:cNvSpPr/>
          <p:nvPr/>
        </p:nvSpPr>
        <p:spPr>
          <a:xfrm>
            <a:off x="7315200" y="237744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87" name="Shape 85"/>
          <p:cNvSpPr/>
          <p:nvPr/>
        </p:nvSpPr>
        <p:spPr>
          <a:xfrm>
            <a:off x="7543800" y="23317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88" name="Text 86"/>
          <p:cNvSpPr/>
          <p:nvPr/>
        </p:nvSpPr>
        <p:spPr>
          <a:xfrm>
            <a:off x="758952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权限管理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132320" y="2944368"/>
            <a:ext cx="182880" cy="1828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90" name="Shape 88"/>
          <p:cNvSpPr/>
          <p:nvPr/>
        </p:nvSpPr>
        <p:spPr>
          <a:xfrm>
            <a:off x="7315200" y="288036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91" name="Shape 89"/>
          <p:cNvSpPr/>
          <p:nvPr/>
        </p:nvSpPr>
        <p:spPr>
          <a:xfrm>
            <a:off x="7543800" y="283464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92" name="Text 90"/>
          <p:cNvSpPr/>
          <p:nvPr/>
        </p:nvSpPr>
        <p:spPr>
          <a:xfrm>
            <a:off x="758952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竞赛发布 / 编辑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132320" y="3447288"/>
            <a:ext cx="182880" cy="1828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94" name="Shape 92"/>
          <p:cNvSpPr/>
          <p:nvPr/>
        </p:nvSpPr>
        <p:spPr>
          <a:xfrm>
            <a:off x="7315200" y="338328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95" name="Shape 93"/>
          <p:cNvSpPr/>
          <p:nvPr/>
        </p:nvSpPr>
        <p:spPr>
          <a:xfrm>
            <a:off x="754380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96" name="Text 94"/>
          <p:cNvSpPr/>
          <p:nvPr/>
        </p:nvSpPr>
        <p:spPr>
          <a:xfrm>
            <a:off x="758952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系统日志审计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132320" y="3950208"/>
            <a:ext cx="182880" cy="1828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98" name="Shape 96"/>
          <p:cNvSpPr/>
          <p:nvPr/>
        </p:nvSpPr>
        <p:spPr>
          <a:xfrm>
            <a:off x="7315200" y="388620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99" name="Shape 97"/>
          <p:cNvSpPr/>
          <p:nvPr/>
        </p:nvSpPr>
        <p:spPr>
          <a:xfrm>
            <a:off x="7543800" y="384048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/>
        </p:spPr>
      </p:sp>
      <p:sp>
        <p:nvSpPr>
          <p:cNvPr id="100" name="Text 98"/>
          <p:cNvSpPr/>
          <p:nvPr/>
        </p:nvSpPr>
        <p:spPr>
          <a:xfrm>
            <a:off x="758952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配置参数管理</a:t>
            </a:r>
            <a:endParaRPr lang="en-US" sz="850" dirty="0"/>
          </a:p>
        </p:txBody>
      </p:sp>
      <p:sp>
        <p:nvSpPr>
          <p:cNvPr id="10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1A365D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4173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认证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8986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第三方登录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4015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01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 BCrypt 加密存储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9044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04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886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多因子认证 (MFA)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0" y="12344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2B6CB0"/>
          </a:solidFill>
          <a:ln/>
        </p:spPr>
      </p:sp>
      <p:sp>
        <p:nvSpPr>
          <p:cNvPr id="28" name="Shape 26"/>
          <p:cNvSpPr/>
          <p:nvPr/>
        </p:nvSpPr>
        <p:spPr>
          <a:xfrm>
            <a:off x="3108960" y="14173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B6CB0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传输安全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97480" y="23957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B6CB0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71800" y="2377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全链路加密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97480" y="28986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7180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请求签名验证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97480" y="34015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B6CB0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3401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718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敏感数据脱敏传输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97480" y="39044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B6CB0"/>
          </a:solidFill>
          <a:ln/>
        </p:spPr>
      </p:sp>
      <p:sp>
        <p:nvSpPr>
          <p:cNvPr id="41" name="Text 39"/>
          <p:cNvSpPr/>
          <p:nvPr/>
        </p:nvSpPr>
        <p:spPr>
          <a:xfrm>
            <a:off x="2697480" y="3904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71800" y="3886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跨域策略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12344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F56565"/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14173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56565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应用防护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2040" y="23957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6565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2377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注入防护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28986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6565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6636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攻击过滤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92040" y="34015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6565"/>
          </a:solidFill>
          <a:ln/>
        </p:spPr>
      </p:sp>
      <p:sp>
        <p:nvSpPr>
          <p:cNvPr id="55" name="Text 53"/>
          <p:cNvSpPr/>
          <p:nvPr/>
        </p:nvSpPr>
        <p:spPr>
          <a:xfrm>
            <a:off x="4892040" y="3401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636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 验证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92040" y="39044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6565"/>
          </a:solidFill>
          <a:ln/>
        </p:spPr>
      </p:sp>
      <p:sp>
        <p:nvSpPr>
          <p:cNvPr id="58" name="Text 56"/>
          <p:cNvSpPr/>
          <p:nvPr/>
        </p:nvSpPr>
        <p:spPr>
          <a:xfrm>
            <a:off x="4892040" y="3904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66360" y="3886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请求频率限制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49440" y="12344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949440" y="1234440"/>
            <a:ext cx="2011680" cy="54864"/>
          </a:xfrm>
          <a:prstGeom prst="roundRect">
            <a:avLst>
              <a:gd name="adj" fmla="val 166667"/>
            </a:avLst>
          </a:prstGeom>
          <a:solidFill>
            <a:srgbClr val="ECC94B"/>
          </a:solidFill>
          <a:ln/>
        </p:spPr>
      </p:sp>
      <p:sp>
        <p:nvSpPr>
          <p:cNvPr id="62" name="Shape 60"/>
          <p:cNvSpPr/>
          <p:nvPr/>
        </p:nvSpPr>
        <p:spPr>
          <a:xfrm>
            <a:off x="7498080" y="14173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ECC94B"/>
          </a:solidFill>
          <a:ln/>
        </p:spPr>
      </p:sp>
      <p:sp>
        <p:nvSpPr>
          <p:cNvPr id="63" name="Text 61"/>
          <p:cNvSpPr/>
          <p:nvPr/>
        </p:nvSpPr>
        <p:spPr>
          <a:xfrm>
            <a:off x="749808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04088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权限控制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086600" y="23957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CC94B"/>
          </a:solidFill>
          <a:ln/>
        </p:spPr>
      </p:sp>
      <p:sp>
        <p:nvSpPr>
          <p:cNvPr id="66" name="Text 64"/>
          <p:cNvSpPr/>
          <p:nvPr/>
        </p:nvSpPr>
        <p:spPr>
          <a:xfrm>
            <a:off x="7086600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360920" y="2377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角色权限模型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86600" y="28986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CC94B"/>
          </a:solidFill>
          <a:ln/>
        </p:spPr>
      </p:sp>
      <p:sp>
        <p:nvSpPr>
          <p:cNvPr id="69" name="Text 67"/>
          <p:cNvSpPr/>
          <p:nvPr/>
        </p:nvSpPr>
        <p:spPr>
          <a:xfrm>
            <a:off x="708660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36092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级别权限校验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086600" y="34015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CC94B"/>
          </a:solidFill>
          <a:ln/>
        </p:spPr>
      </p:sp>
      <p:sp>
        <p:nvSpPr>
          <p:cNvPr id="72" name="Text 70"/>
          <p:cNvSpPr/>
          <p:nvPr/>
        </p:nvSpPr>
        <p:spPr>
          <a:xfrm>
            <a:off x="7086600" y="3401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36092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数据行级权限隔离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086600" y="39044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CC94B"/>
          </a:solidFill>
          <a:ln/>
        </p:spPr>
      </p:sp>
      <p:sp>
        <p:nvSpPr>
          <p:cNvPr id="75" name="Text 73"/>
          <p:cNvSpPr/>
          <p:nvPr/>
        </p:nvSpPr>
        <p:spPr>
          <a:xfrm>
            <a:off x="7086600" y="3904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360920" y="3886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操作日志审计</a:t>
            </a:r>
            <a:endParaRPr lang="en-US" sz="900" dirty="0"/>
          </a:p>
        </p:txBody>
      </p:sp>
      <p:sp>
        <p:nvSpPr>
          <p:cNvPr id="77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开发计划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2608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4904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39496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1792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86384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10312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1460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74904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416052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496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80644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662940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088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236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532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8686800" y="1554480"/>
            <a:ext cx="4572" cy="2743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1691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97280" y="16916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基础架构搭建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21408" y="1764792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1A365D"/>
          </a:solidFill>
          <a:ln/>
        </p:spPr>
      </p:sp>
      <p:sp>
        <p:nvSpPr>
          <p:cNvPr id="38" name="Text 36"/>
          <p:cNvSpPr/>
          <p:nvPr/>
        </p:nvSpPr>
        <p:spPr>
          <a:xfrm>
            <a:off x="2121408" y="176479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W1-W2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2148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97280" y="2148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用户与认证系统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44368" y="2221992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2B6CB0"/>
          </a:solidFill>
          <a:ln/>
        </p:spPr>
      </p:sp>
      <p:sp>
        <p:nvSpPr>
          <p:cNvPr id="43" name="Text 41"/>
          <p:cNvSpPr/>
          <p:nvPr/>
        </p:nvSpPr>
        <p:spPr>
          <a:xfrm>
            <a:off x="2944368" y="222199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W3-W4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2606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97280" y="26060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竞赛信息模块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67328" y="2679192"/>
            <a:ext cx="1197864" cy="237744"/>
          </a:xfrm>
          <a:prstGeom prst="roundRect">
            <a:avLst>
              <a:gd name="adj" fmla="val 19231"/>
            </a:avLst>
          </a:prstGeom>
          <a:solidFill>
            <a:srgbClr val="38B2AC"/>
          </a:solidFill>
          <a:ln/>
        </p:spPr>
      </p:sp>
      <p:sp>
        <p:nvSpPr>
          <p:cNvPr id="48" name="Text 46"/>
          <p:cNvSpPr/>
          <p:nvPr/>
        </p:nvSpPr>
        <p:spPr>
          <a:xfrm>
            <a:off x="3767328" y="2679192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W5-W7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3063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97280" y="30632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报名管理模块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01768" y="3136392"/>
            <a:ext cx="1197864" cy="237744"/>
          </a:xfrm>
          <a:prstGeom prst="roundRect">
            <a:avLst>
              <a:gd name="adj" fmla="val 19231"/>
            </a:avLst>
          </a:prstGeom>
          <a:solidFill>
            <a:srgbClr val="48BB78"/>
          </a:solidFill>
          <a:ln/>
        </p:spPr>
      </p:sp>
      <p:sp>
        <p:nvSpPr>
          <p:cNvPr id="53" name="Text 51"/>
          <p:cNvSpPr/>
          <p:nvPr/>
        </p:nvSpPr>
        <p:spPr>
          <a:xfrm>
            <a:off x="5001768" y="3136392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W8-W10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7200" y="352044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3520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F7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97280" y="35204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助手集成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36208" y="3593592"/>
            <a:ext cx="1197864" cy="237744"/>
          </a:xfrm>
          <a:prstGeom prst="roundRect">
            <a:avLst>
              <a:gd name="adj" fmla="val 19231"/>
            </a:avLst>
          </a:prstGeom>
          <a:solidFill>
            <a:srgbClr val="9F7AEA"/>
          </a:solidFill>
          <a:ln/>
        </p:spPr>
      </p:sp>
      <p:sp>
        <p:nvSpPr>
          <p:cNvPr id="58" name="Text 56"/>
          <p:cNvSpPr/>
          <p:nvPr/>
        </p:nvSpPr>
        <p:spPr>
          <a:xfrm>
            <a:off x="6236208" y="3593592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W11-W13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3977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CC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97280" y="39776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测试与上线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70648" y="4050792"/>
            <a:ext cx="1197864" cy="237744"/>
          </a:xfrm>
          <a:prstGeom prst="roundRect">
            <a:avLst>
              <a:gd name="adj" fmla="val 19231"/>
            </a:avLst>
          </a:prstGeom>
          <a:solidFill>
            <a:srgbClr val="ECC94B"/>
          </a:solidFill>
          <a:ln/>
        </p:spPr>
      </p:sp>
      <p:sp>
        <p:nvSpPr>
          <p:cNvPr id="63" name="Text 61"/>
          <p:cNvSpPr/>
          <p:nvPr/>
        </p:nvSpPr>
        <p:spPr>
          <a:xfrm>
            <a:off x="7470648" y="4050792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W14-W16</a:t>
            </a:r>
            <a:endParaRPr lang="en-US" sz="700" dirty="0"/>
          </a:p>
        </p:txBody>
      </p:sp>
      <p:sp>
        <p:nvSpPr>
          <p:cNvPr id="6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性能目标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核心性能指标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测量方式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响应时间 (P95)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APM 监控 (Prometheus + Grafana)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页面首屏加载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1.5s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CI 自动检测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并发用户支持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QPS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压力测试 (k6 / Artillery)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系统可用性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健康检查 + 告警通知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数据库查询 (P95)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慢查询日志监控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缓存策略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749040"/>
            <a:ext cx="1572768" cy="54864"/>
          </a:xfrm>
          <a:prstGeom prst="roundRect">
            <a:avLst>
              <a:gd name="adj" fmla="val 100000"/>
            </a:avLst>
          </a:prstGeom>
          <a:solidFill>
            <a:srgbClr val="1A365D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8587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竞赛列表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413308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缓存 5min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176272" y="37490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76272" y="3749040"/>
            <a:ext cx="1572768" cy="54864"/>
          </a:xfrm>
          <a:prstGeom prst="roundRect">
            <a:avLst>
              <a:gd name="adj" fmla="val 100000"/>
            </a:avLst>
          </a:prstGeom>
          <a:solidFill>
            <a:srgbClr val="2B6CB0"/>
          </a:solidFill>
          <a:ln/>
        </p:spPr>
      </p:sp>
      <p:sp>
        <p:nvSpPr>
          <p:cNvPr id="18" name="Text 15"/>
          <p:cNvSpPr/>
          <p:nvPr/>
        </p:nvSpPr>
        <p:spPr>
          <a:xfrm>
            <a:off x="2221992" y="38587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用户会话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221992" y="413308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 30min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895344" y="37490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95344" y="3749040"/>
            <a:ext cx="1572768" cy="54864"/>
          </a:xfrm>
          <a:prstGeom prst="roundRect">
            <a:avLst>
              <a:gd name="adj" fmla="val 100000"/>
            </a:avLst>
          </a:prstGeom>
          <a:solidFill>
            <a:srgbClr val="38B2AC"/>
          </a:solidFill>
          <a:ln/>
        </p:spPr>
      </p:sp>
      <p:sp>
        <p:nvSpPr>
          <p:cNvPr id="22" name="Text 19"/>
          <p:cNvSpPr/>
          <p:nvPr/>
        </p:nvSpPr>
        <p:spPr>
          <a:xfrm>
            <a:off x="3941064" y="38587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静态资源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941064" y="413308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+ 浏览器缓存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14416" y="37490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14416" y="3749040"/>
            <a:ext cx="1572768" cy="54864"/>
          </a:xfrm>
          <a:prstGeom prst="roundRect">
            <a:avLst>
              <a:gd name="adj" fmla="val 100000"/>
            </a:avLst>
          </a:prstGeom>
          <a:solidFill>
            <a:srgbClr val="48BB78"/>
          </a:solidFill>
          <a:ln/>
        </p:spPr>
      </p:sp>
      <p:sp>
        <p:nvSpPr>
          <p:cNvPr id="26" name="Text 23"/>
          <p:cNvSpPr/>
          <p:nvPr/>
        </p:nvSpPr>
        <p:spPr>
          <a:xfrm>
            <a:off x="5660136" y="38587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响应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60136" y="413308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Cache-Control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333488" y="37490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33488" y="3749040"/>
            <a:ext cx="1572768" cy="54864"/>
          </a:xfrm>
          <a:prstGeom prst="roundRect">
            <a:avLst>
              <a:gd name="adj" fmla="val 100000"/>
            </a:avLst>
          </a:prstGeom>
          <a:solidFill>
            <a:srgbClr val="9F7AEA"/>
          </a:solidFill>
          <a:ln/>
        </p:spPr>
      </p:sp>
      <p:sp>
        <p:nvSpPr>
          <p:cNvPr id="30" name="Text 27"/>
          <p:cNvSpPr/>
          <p:nvPr/>
        </p:nvSpPr>
        <p:spPr>
          <a:xfrm>
            <a:off x="7379208" y="38587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查询结果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379208" y="413308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应用层 LRU 缓存</a:t>
            </a:r>
            <a:endParaRPr lang="en-US" sz="8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914400" y="2743200"/>
            <a:ext cx="3657600" cy="3657600"/>
          </a:xfrm>
          <a:prstGeom prst="rect">
            <a:avLst/>
          </a:prstGeom>
          <a:solidFill>
            <a:srgbClr val="1E3F6E"/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7315200" y="-914400"/>
            <a:ext cx="2743200" cy="2743200"/>
          </a:xfrm>
          <a:prstGeom prst="rect">
            <a:avLst/>
          </a:prstGeom>
          <a:solidFill>
            <a:srgbClr val="1E3F6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645920"/>
            <a:ext cx="292608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8288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0" y="28346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926080" cy="36576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365760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E3F6E"/>
          </a:solidFill>
          <a:ln w="12700">
            <a:solidFill>
              <a:srgbClr val="ECC9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competition-hub@example.com  |  GitHub: competition-hub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  |  v2.0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12192000" cy="73152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1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竞赛助手 2.0 从零重建计划书</dc:title>
  <dc:subject>PptxGenJS Presentation</dc:subject>
  <dc:creator>Competition Hub Team</dc:creator>
  <cp:lastModifiedBy>Competition Hub Team</cp:lastModifiedBy>
  <cp:revision>1</cp:revision>
  <dcterms:created xsi:type="dcterms:W3CDTF">2026-04-20T10:29:51Z</dcterms:created>
  <dcterms:modified xsi:type="dcterms:W3CDTF">2026-04-20T10:29:51Z</dcterms:modified>
</cp:coreProperties>
</file>